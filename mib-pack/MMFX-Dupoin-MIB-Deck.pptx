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we are not asking to be another IB. We are proposing to be the product layer under the whole IB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shared problem. Dupoin already knows it — say it plainly and let them agree before you propose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pitch hangs here. An override is justified because we move retention, not just introductions.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invisible to the end trader by design. We never compete with their IBs for brand.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list. Point at it and say: all of this is live in production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Retention argument in one product. A trader being coached logs in tomorrow; a trader with a link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operational proof point. It shows the platform is real engineering, not a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firm on column three. Naming it now prevents an expectation you have to manage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a live demo on the spot. The credibility gap in these meetings is always 'does it exist'.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 3 is where the model bleeds if spend is misplaced. Enter it deliberately, after Tier 1 proves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Portability is the clause everyone skips and everyone later regrets. Raise it yourself — it reads as good faith.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direct here. These are not asks, they are the conditions under which the arrangement functions.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Reframe: this is two columns on an export we already ingest, not a data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co-branded pilot would have tested a proxy. Three real desks test the product — which is why Phase 1 comes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Offering a falsifiable test is the strongest credibility move available. Say the failure sentence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smallest possible yes: not the override rate, just the data confirmation.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737360"/>
            <a:ext cx="5669280" cy="5669280"/>
          </a:xfrm>
          <a:prstGeom prst="ellipse">
            <a:avLst/>
          </a:prstGeom>
          <a:solidFill>
            <a:srgbClr val="1F1B1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MAKERS FX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-12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IB Proposal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204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for the Dupoin IB network — the platform, products and funnel that turn an IB with an audience into an IB with a product.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Dupoin Markets  ·  28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6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IB programmes buy introductions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 is in what happens after the account opens.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03520" cy="3840480"/>
          </a:xfrm>
          <a:prstGeom prst="roundRect">
            <a:avLst>
              <a:gd name="adj" fmla="val 2143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194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an IB gets today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9748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referral link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of banners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landing page template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their trader can use tomorrow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8006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trader opens, trades for a few weeks, and drifts.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920240"/>
            <a:ext cx="5212080" cy="3840480"/>
          </a:xfrm>
          <a:prstGeom prst="roundRect">
            <a:avLst>
              <a:gd name="adj" fmla="val 2143"/>
            </a:avLst>
          </a:prstGeom>
          <a:solidFill>
            <a:srgbClr val="272220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2940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6974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spc="-8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IBs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spc="-8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 nothing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40690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because the introduction was bad. Because there was no product behind it — and accounts that go quiet pay nobody. Volume dies because accounts die.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6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volume actually comes from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terms. Almost everyone only sells the first.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291840" cy="3200400"/>
          </a:xfrm>
          <a:prstGeom prst="roundRect">
            <a:avLst>
              <a:gd name="adj" fmla="val 2571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286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E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GENERATION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06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Funded accounts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52044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Ads, content, referral traffic. What every IB programme sells.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0" y="2011680"/>
            <a:ext cx="3291840" cy="3200400"/>
          </a:xfrm>
          <a:prstGeom prst="roundRect">
            <a:avLst>
              <a:gd name="adj" fmla="val 2571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92040" y="2286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6E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&amp; ENGAGEMENT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2606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Lots per account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352044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that give the trader a reason to place the next trade.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503920" y="2011680"/>
            <a:ext cx="3291840" cy="3200400"/>
          </a:xfrm>
          <a:prstGeom prst="roundRect">
            <a:avLst>
              <a:gd name="adj" fmla="val 2571"/>
            </a:avLst>
          </a:prstGeom>
          <a:solidFill>
            <a:srgbClr val="272220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03920" y="2011680"/>
            <a:ext cx="3291840" cy="3200400"/>
          </a:xfrm>
          <a:prstGeom prst="roundRect">
            <a:avLst>
              <a:gd name="adj" fmla="val 2571"/>
            </a:avLst>
          </a:prstGeom>
          <a:ln w="25400">
            <a:solidFill>
              <a:srgbClr val="FF5A1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23960" y="22860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8823960" y="2606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alive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823960" y="352044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the account survives. Nobody sells this — it is the largest term.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041648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973568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MMFX's platform is built for the third term — and paid on the outcome of all three.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6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proposal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IB under the MIB a complete trading desk — under their own brand.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583680" cy="3794760"/>
          </a:xfrm>
          <a:prstGeom prst="roundRect">
            <a:avLst>
              <a:gd name="adj" fmla="val 2169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33172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800" b="1" spc="-7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brand. Their domain.</a:t>
            </a:r>
            <a:endParaRPr lang="en-US" sz="28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800" b="1" spc="-7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machine underneath.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65760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trader signs up on the IB's site, sees the IB's logo, and gets a professional trading desk: indicators on their charts, an AI assistant reading their live account, a research bot, a calendar, filtered news and a foundation course — plus a free trial and a funded-account funnel behind it.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589520" y="1965960"/>
            <a:ext cx="3931920" cy="1133856"/>
          </a:xfrm>
          <a:prstGeom prst="roundRect">
            <a:avLst>
              <a:gd name="adj" fmla="val 7258"/>
            </a:avLst>
          </a:prstGeom>
          <a:solidFill>
            <a:srgbClr val="272220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863840" y="214884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E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TO THE IB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2423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589520" y="3264408"/>
            <a:ext cx="3931920" cy="1133856"/>
          </a:xfrm>
          <a:prstGeom prst="roundRect">
            <a:avLst>
              <a:gd name="adj" fmla="val 7258"/>
            </a:avLst>
          </a:prstGeom>
          <a:solidFill>
            <a:srgbClr val="272220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863840" y="344728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E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TO DUPOIN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372160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589520" y="4562856"/>
            <a:ext cx="3931920" cy="1133856"/>
          </a:xfrm>
          <a:prstGeom prst="roundRect">
            <a:avLst>
              <a:gd name="adj" fmla="val 7258"/>
            </a:avLst>
          </a:prstGeom>
          <a:solidFill>
            <a:srgbClr val="272220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863840" y="474573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E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MMFX IS PAID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502005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lot, on volume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6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lands on every desk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Fifteen items. Fourteen run with no ongoing human input.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49240" cy="868680"/>
          </a:xfrm>
          <a:prstGeom prst="roundRect">
            <a:avLst>
              <a:gd name="adj" fmla="val 9474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203704"/>
            <a:ext cx="402336" cy="402336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203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44752" y="20939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 suite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3774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TradingView indicators + 2 strategies, granted automatically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349240" cy="868680"/>
          </a:xfrm>
          <a:prstGeom prst="roundRect">
            <a:avLst>
              <a:gd name="adj" fmla="val 9474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2203704"/>
            <a:ext cx="402336" cy="402336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203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068312" y="20939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Trading Assistant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068312" y="23774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live account analysis, leak detection, coaching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953512"/>
            <a:ext cx="5349240" cy="868680"/>
          </a:xfrm>
          <a:prstGeom prst="roundRect">
            <a:avLst>
              <a:gd name="adj" fmla="val 9474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3191256"/>
            <a:ext cx="402336" cy="402336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3191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44752" y="30815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 Desk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444752" y="336499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research bot on gold, emails a written thesis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2953512"/>
            <a:ext cx="5349240" cy="868680"/>
          </a:xfrm>
          <a:prstGeom prst="roundRect">
            <a:avLst>
              <a:gd name="adj" fmla="val 9474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9672" y="3191256"/>
            <a:ext cx="402336" cy="402336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31912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68312" y="30815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Your Style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068312" y="336499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Trader-archetype quiz — also a top-of-funnel magnet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3941064"/>
            <a:ext cx="5349240" cy="868680"/>
          </a:xfrm>
          <a:prstGeom prst="roundRect">
            <a:avLst>
              <a:gd name="adj" fmla="val 9474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6112" y="4178808"/>
            <a:ext cx="402336" cy="402336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96112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444752" y="4069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&amp; news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444752" y="435254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and sentiment across nineteen instruments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3941064"/>
            <a:ext cx="5349240" cy="868680"/>
          </a:xfrm>
          <a:prstGeom prst="roundRect">
            <a:avLst>
              <a:gd name="adj" fmla="val 9474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19672" y="4178808"/>
            <a:ext cx="402336" cy="402336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19672" y="4178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068312" y="4069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course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068312" y="435254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Neutral-branded, so a desk is never empty on day one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4928616"/>
            <a:ext cx="5349240" cy="868680"/>
          </a:xfrm>
          <a:prstGeom prst="roundRect">
            <a:avLst>
              <a:gd name="adj" fmla="val 9474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96112" y="5166360"/>
            <a:ext cx="402336" cy="402336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96112" y="5166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444752" y="50566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Signup → funded funnel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1444752" y="534009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signup, 7-day trial, region-aware upgrade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263640" y="4928616"/>
            <a:ext cx="5349240" cy="868680"/>
          </a:xfrm>
          <a:prstGeom prst="roundRect">
            <a:avLst>
              <a:gd name="adj" fmla="val 9474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519672" y="5166360"/>
            <a:ext cx="402336" cy="402336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519672" y="5166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7068312" y="50566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&amp; analytics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7068312" y="534009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Self-segmenting email, fraud protection, growth dashboard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108960"/>
            <a:ext cx="6766560" cy="6766560"/>
          </a:xfrm>
          <a:prstGeom prst="ellipse">
            <a:avLst/>
          </a:prstGeom>
          <a:solidFill>
            <a:srgbClr val="1F1B1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THAT CHANGES BEHAVIOUR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087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spc="-10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tells the trader what their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spc="-10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is actually doing.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Trading Assistant connects to the trader's live MT4/MT5 account, imports every trade automatically, and shows them the habits costing them money — in dollars — with a discipline score and a coach that reviews their decisions against goals they set themselves.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0" y="1508760"/>
            <a:ext cx="3291840" cy="4023360"/>
          </a:xfrm>
          <a:prstGeom prst="roundRect">
            <a:avLst>
              <a:gd name="adj" fmla="val 2500"/>
            </a:avLst>
          </a:prstGeom>
          <a:solidFill>
            <a:srgbClr val="272220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54964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B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549640" y="2286000"/>
            <a:ext cx="2697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place a trade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withdraw funds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is never stored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7F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only — never advises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448056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this in every conversation. It is the first question a compliance team asks.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6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part competitors cannot copy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access is granted and revoked programmatically. No codes, no tickets.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29584" cy="3017520"/>
          </a:xfrm>
          <a:prstGeom prst="roundRect">
            <a:avLst>
              <a:gd name="adj" fmla="val 2727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95728"/>
            <a:ext cx="402336" cy="402336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71800"/>
            <a:ext cx="2889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spc="-4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Trader enters</a:t>
            </a:r>
            <a:endParaRPr lang="en-US" sz="18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800" b="1" spc="-4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username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931920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field on their own desk. Nothing to email, nothing to wait for.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169664" y="3429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443984" y="2103120"/>
            <a:ext cx="3529584" cy="3017520"/>
          </a:xfrm>
          <a:prstGeom prst="roundRect">
            <a:avLst>
              <a:gd name="adj" fmla="val 2727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64024" y="2395728"/>
            <a:ext cx="402336" cy="402336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64024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764024" y="2971800"/>
            <a:ext cx="2889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spc="-4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is granted</a:t>
            </a:r>
            <a:endParaRPr lang="en-US" sz="18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800" b="1" spc="-4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764024" y="3931920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invite-only scripts appear on their TradingView charts within minutes.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73568" y="3429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47888" y="2103120"/>
            <a:ext cx="3529584" cy="3017520"/>
          </a:xfrm>
          <a:prstGeom prst="roundRect">
            <a:avLst>
              <a:gd name="adj" fmla="val 2727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67928" y="2395728"/>
            <a:ext cx="402336" cy="402336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67928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567928" y="2971800"/>
            <a:ext cx="2889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spc="-4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is revoked</a:t>
            </a:r>
            <a:endParaRPr lang="en-US" sz="18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800" b="1" spc="-4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567928" y="3931920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a member lapses. No manual audit, no leakage, no awkward conversation.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 production today. Self-healing, with no human in the loop.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6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supplies what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to be over-clear. Every ambiguity here becomes a dispute later.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9584" cy="3566160"/>
          </a:xfrm>
          <a:prstGeom prst="roundRect">
            <a:avLst>
              <a:gd name="adj" fmla="val 2332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28600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MMFX PROVIDES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97480"/>
            <a:ext cx="28895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tool suite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course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Signup-to-funded funnel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email &amp; analytics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&amp; hosting per desk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support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43984" y="2011680"/>
            <a:ext cx="3529584" cy="3566160"/>
          </a:xfrm>
          <a:prstGeom prst="roundRect">
            <a:avLst>
              <a:gd name="adj" fmla="val 2332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764024" y="228600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IB PROVIDES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764024" y="2697480"/>
            <a:ext cx="28895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audience &amp; traffic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brand and domain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market and language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First-line trader support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compliance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Optionally, their own content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47888" y="2011680"/>
            <a:ext cx="3529584" cy="3566160"/>
          </a:xfrm>
          <a:prstGeom prst="roundRect">
            <a:avLst>
              <a:gd name="adj" fmla="val 2332"/>
            </a:avLst>
          </a:prstGeom>
          <a:solidFill>
            <a:srgbClr val="141210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47888" y="2011680"/>
            <a:ext cx="3529584" cy="3566160"/>
          </a:xfrm>
          <a:prstGeom prst="roundRect">
            <a:avLst>
              <a:gd name="adj" fmla="val 2332"/>
            </a:avLst>
          </a:prstGeom>
          <a:ln w="12700">
            <a:solidFill>
              <a:srgbClr val="272220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8567928" y="2286000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8A7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INCLUDED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567928" y="2697480"/>
            <a:ext cx="28895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E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 Mentorship (19 lessons)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E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eBook library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E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XAU/USD analysis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E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MMFX signals desk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E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classes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6E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MM VIP channel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IB who uploads nothing still ships a real product — the retention engine is the AI assistant, not the size of a content library.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6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specification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desk is live in production today, serving MMFX's own members.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1133856"/>
          </a:xfrm>
          <a:prstGeom prst="roundRect">
            <a:avLst>
              <a:gd name="adj" fmla="val 7258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31136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5FB37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23113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1945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today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51460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and auto-grant · AI Trading Assistant · Fundamental Desk · Know Your Style · calendar · news · dashboard · trial and upgrade funnel · lifecycle email · anti-abuse · analytics · admin · broker export parser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310128"/>
            <a:ext cx="10881360" cy="1133856"/>
          </a:xfrm>
          <a:prstGeom prst="roundRect">
            <a:avLst>
              <a:gd name="adj" fmla="val 7258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529584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E0A3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52958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34930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3813048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 · branding layer · per-tenant funnel config · feature toggles · upload-and-publish studio · tenant-scoped admin · content policy · the foundation course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608576"/>
            <a:ext cx="10881360" cy="1133856"/>
          </a:xfrm>
          <a:prstGeom prst="roundRect">
            <a:avLst>
              <a:gd name="adj" fmla="val 7258"/>
            </a:avLst>
          </a:prstGeom>
          <a:solidFill>
            <a:srgbClr val="141210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828032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8A7F7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482803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479145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date offered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5111496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expert advisor — specified on paper only, and deliberately not part of this proposal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makes a working single-brand product serve many brands. That is engineering, not invention.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6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tiers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is the default and should be near-frictionless for an IB to accept.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9584" cy="3703320"/>
          </a:xfrm>
          <a:prstGeom prst="roundRect">
            <a:avLst>
              <a:gd name="adj" fmla="val 2332"/>
            </a:avLst>
          </a:prstGeom>
          <a:solidFill>
            <a:srgbClr val="272220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65960"/>
            <a:ext cx="3529584" cy="3703320"/>
          </a:xfrm>
          <a:prstGeom prst="roundRect">
            <a:avLst>
              <a:gd name="adj" fmla="val 2332"/>
            </a:avLst>
          </a:prstGeom>
          <a:ln w="25400">
            <a:solidFill>
              <a:srgbClr val="FF5A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212848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487168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971800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the IB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429000"/>
            <a:ext cx="28895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white-label desk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course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Funnel, email, analytics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studio for their content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43984" y="1965960"/>
            <a:ext cx="3529584" cy="3703320"/>
          </a:xfrm>
          <a:prstGeom prst="roundRect">
            <a:avLst>
              <a:gd name="adj" fmla="val 2332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764024" y="2212848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6E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764024" y="2487168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 + Capture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764024" y="2971800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per-IB build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764024" y="3429000"/>
            <a:ext cx="28895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Tier 1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landing pages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tracking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dashboard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47888" y="1965960"/>
            <a:ext cx="3529584" cy="3703320"/>
          </a:xfrm>
          <a:prstGeom prst="roundRect">
            <a:avLst>
              <a:gd name="adj" fmla="val 2332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567928" y="2212848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6E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567928" y="2487168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agency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567928" y="2971800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funded by IB or broker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567928" y="3429000"/>
            <a:ext cx="28895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Tier 2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campaign build &amp; management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creative production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tiering and refresh cadence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6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commercial ask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to settle, and one to write down before either side has a reason to argue.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6583680" cy="914400"/>
          </a:xfrm>
          <a:prstGeom prst="roundRect">
            <a:avLst>
              <a:gd name="adj" fmla="val 9000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11226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211226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per-lot override on all volume generated by IBs under the MMFX MIB. Rate set by Dupoin; tiered by service level if preferred.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026664"/>
            <a:ext cx="6583680" cy="914400"/>
          </a:xfrm>
          <a:prstGeom prst="roundRect">
            <a:avLst>
              <a:gd name="adj" fmla="val 9000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317296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31729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enough to justify the platform investment. MMFX builds before it earns.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087368"/>
            <a:ext cx="6583680" cy="914400"/>
          </a:xfrm>
          <a:prstGeom prst="roundRect">
            <a:avLst>
              <a:gd name="adj" fmla="val 9000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60120" y="42336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Exclusivity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423367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 both directions — worth agreeing rather than assuming.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965960"/>
            <a:ext cx="3931920" cy="3182112"/>
          </a:xfrm>
          <a:prstGeom prst="roundRect">
            <a:avLst>
              <a:gd name="adj" fmla="val 2586"/>
            </a:avLst>
          </a:prstGeom>
          <a:solidFill>
            <a:srgbClr val="272220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909560" y="2240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Trader portability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265176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arrangement ends, what happens to the traders MMFX acquired, onboarded and retained?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MMFX is not asking for a particular outcome. Only that the outcome is written down now — not at the moment when goodwill is lowest.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6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conditions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one, unmet, breaks the model in a specific and predictable way.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529584" cy="3200400"/>
          </a:xfrm>
          <a:prstGeom prst="roundRect">
            <a:avLst>
              <a:gd name="adj" fmla="val 2571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77440"/>
            <a:ext cx="402336" cy="402336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44368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spc="-4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Sub-IB volume reporting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794760"/>
            <a:ext cx="2889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trader belongs to which IB, and how many lots they trade. Without it MMFX cannot attribute, optimise, invoice or prove anything.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43984" y="2057400"/>
            <a:ext cx="3529584" cy="3200400"/>
          </a:xfrm>
          <a:prstGeom prst="roundRect">
            <a:avLst>
              <a:gd name="adj" fmla="val 2571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64024" y="2377440"/>
            <a:ext cx="402336" cy="402336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64024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64024" y="2944368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spc="-4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spend not funded by MMFX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764024" y="3794760"/>
            <a:ext cx="2889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override is paid after volume. Advertising is paid weeks before it. Where MMFX runs media, the IB or the broker funds 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47888" y="2057400"/>
            <a:ext cx="3529584" cy="3200400"/>
          </a:xfrm>
          <a:prstGeom prst="roundRect">
            <a:avLst>
              <a:gd name="adj" fmla="val 2571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67928" y="2377440"/>
            <a:ext cx="402336" cy="402336"/>
          </a:xfrm>
          <a:prstGeom prst="ellipse">
            <a:avLst/>
          </a:prstGeom>
          <a:solidFill>
            <a:srgbClr val="FF5A1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67928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567928" y="2944368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spc="-4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volume &amp; dormancy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567928" y="3794760"/>
            <a:ext cx="28895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live desk costs money from day one. A desk producing nothing is a permanent cost centre — for both parties.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1 gates everything. Phase 1 is a substantial investment made ahead of revenue — but not against an unverifiable outcome.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6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condition 1 actually requires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fields you do not currently send. The rest, MMFX already ingests.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19385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6E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160520" y="193852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6E6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NEEDED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267712"/>
            <a:ext cx="10881360" cy="502920"/>
          </a:xfrm>
          <a:prstGeom prst="roundRect">
            <a:avLst>
              <a:gd name="adj" fmla="val 16364"/>
            </a:avLst>
          </a:prstGeom>
          <a:solidFill>
            <a:srgbClr val="272220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60120" y="23865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Sub-IB identifier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160520" y="23957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each trader to the IB who introduced them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607040" y="2404872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FF5A1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607040" y="240487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40080" y="2843784"/>
            <a:ext cx="10881360" cy="502920"/>
          </a:xfrm>
          <a:prstGeom prst="roundRect">
            <a:avLst>
              <a:gd name="adj" fmla="val 16364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60120" y="29626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account number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160520" y="2971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to the platform member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607040" y="2980944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5FB3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607040" y="2980944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3419856"/>
            <a:ext cx="10881360" cy="502920"/>
          </a:xfrm>
          <a:prstGeom prst="roundRect">
            <a:avLst>
              <a:gd name="adj" fmla="val 16364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0120" y="3538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open date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160520" y="35478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Time-to-fund and cohort behaviour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607040" y="3557016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5FB37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607040" y="3557016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3995928"/>
            <a:ext cx="10881360" cy="502920"/>
          </a:xfrm>
          <a:prstGeom prst="roundRect">
            <a:avLst>
              <a:gd name="adj" fmla="val 16364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60120" y="4114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Deposits and balance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160520" y="412394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funding, detect at-risk accounts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607040" y="4133088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5FB37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607040" y="413308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0080" y="4572000"/>
            <a:ext cx="10881360" cy="502920"/>
          </a:xfrm>
          <a:prstGeom prst="roundRect">
            <a:avLst>
              <a:gd name="adj" fmla="val 16364"/>
            </a:avLst>
          </a:prstGeom>
          <a:solidFill>
            <a:srgbClr val="272220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60120" y="46908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Lots traded, per period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160520" y="470001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MMFX is paid on, and every optimisation decision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607040" y="4709160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FF5A1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607040" y="4709160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40080" y="5148072"/>
            <a:ext cx="10881360" cy="502920"/>
          </a:xfrm>
          <a:prstGeom prst="roundRect">
            <a:avLst>
              <a:gd name="adj" fmla="val 16364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60120" y="52669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trade date / status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4160520" y="52760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survival — the core claim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607040" y="5285232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E0A33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607040" y="5285232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MMFX already parses your referred-account export and matches accounts to members. Also requested: your baseline survival and activity figures.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6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runs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settled before platform money is spent. The pilot builds the real product.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78608" cy="3200400"/>
          </a:xfrm>
          <a:prstGeom prst="roundRect">
            <a:avLst>
              <a:gd name="adj" fmla="val 3191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00400"/>
            <a:ext cx="2029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and the three conditions settled. Condition 1 confirmed in writing.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80060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218688" y="3520440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65576" y="2103120"/>
            <a:ext cx="2578608" cy="3200400"/>
          </a:xfrm>
          <a:prstGeom prst="roundRect">
            <a:avLst>
              <a:gd name="adj" fmla="val 3191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739896" y="2377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739896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739896" y="3200400"/>
            <a:ext cx="2029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existing product made multi-tenant: branding, funnel config, upload studio, toggles.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739896" y="480060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 of revenue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044184" y="3520440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91072" y="2103120"/>
            <a:ext cx="2578608" cy="3200400"/>
          </a:xfrm>
          <a:prstGeom prst="roundRect">
            <a:avLst>
              <a:gd name="adj" fmla="val 3191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65392" y="2377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565392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565392" y="3200400"/>
            <a:ext cx="2029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IBs minimum. Three genuinely branded desks. Real acquisition, real volume.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65392" y="480060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60–90 days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869680" y="3520440"/>
            <a:ext cx="246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116568" y="2103120"/>
            <a:ext cx="2578608" cy="3200400"/>
          </a:xfrm>
          <a:prstGeom prst="roundRect">
            <a:avLst>
              <a:gd name="adj" fmla="val 3191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390888" y="23774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390888" y="2651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5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9390888" y="3200400"/>
            <a:ext cx="2029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against the volume threshold. Attribution reporting and IB portal follow.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390888" y="480060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evidence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6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pilot is judged 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Dupoin's own baseline. Failure is a valid and useful outcome.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529584" cy="1600200"/>
          </a:xfrm>
          <a:prstGeom prst="roundRect">
            <a:avLst>
              <a:gd name="adj" fmla="val 5143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313432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spc="-4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Funded accounts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b="1" spc="-4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IB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118104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funnel convert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43984" y="2057400"/>
            <a:ext cx="3529584" cy="1600200"/>
          </a:xfrm>
          <a:prstGeom prst="roundRect">
            <a:avLst>
              <a:gd name="adj" fmla="val 5143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764024" y="2313432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spc="-4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Lots per funded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b="1" spc="-4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account, monthly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764024" y="3118104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desk increase activity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47888" y="2057400"/>
            <a:ext cx="3529584" cy="1600200"/>
          </a:xfrm>
          <a:prstGeom prst="roundRect">
            <a:avLst>
              <a:gd name="adj" fmla="val 5143"/>
            </a:avLst>
          </a:prstGeom>
          <a:solidFill>
            <a:srgbClr val="272220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47888" y="2057400"/>
            <a:ext cx="3529584" cy="1600200"/>
          </a:xfrm>
          <a:prstGeom prst="roundRect">
            <a:avLst>
              <a:gd name="adj" fmla="val 5143"/>
            </a:avLst>
          </a:prstGeom>
          <a:ln w="25400">
            <a:solidFill>
              <a:srgbClr val="FF5A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67928" y="2313432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spc="-4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account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b="1" spc="-4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survival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567928" y="3118104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claim — vs your baseline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3529584" cy="1600200"/>
          </a:xfrm>
          <a:prstGeom prst="roundRect">
            <a:avLst>
              <a:gd name="adj" fmla="val 5143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60120" y="4096512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spc="-4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Trial-to-funded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b="1" spc="-4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901184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efficiency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43984" y="3840480"/>
            <a:ext cx="3529584" cy="1600200"/>
          </a:xfrm>
          <a:prstGeom prst="roundRect">
            <a:avLst>
              <a:gd name="adj" fmla="val 5143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764024" y="4096512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spc="-4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funded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b="1" spc="-4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764024" y="4901184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Tier 3 can pay for itself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47888" y="3840480"/>
            <a:ext cx="3529584" cy="1600200"/>
          </a:xfrm>
          <a:prstGeom prst="roundRect">
            <a:avLst>
              <a:gd name="adj" fmla="val 5143"/>
            </a:avLst>
          </a:prstGeom>
          <a:solidFill>
            <a:srgbClr val="1F1B18"/>
          </a:solidFill>
          <a:ln w="12700">
            <a:solidFill>
              <a:srgbClr val="272220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567928" y="4096512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700" b="1" spc="-4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load</a:t>
            </a:r>
            <a:endParaRPr lang="en-US" sz="17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700" b="1" spc="-4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tenant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567928" y="4901184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model scales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survival and activity measurably above baseline, at a cost per tenant that leaves the override profitable at scale.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2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2194560"/>
            <a:ext cx="6949440" cy="6949440"/>
          </a:xfrm>
          <a:prstGeom prst="ellipse">
            <a:avLst/>
          </a:prstGeom>
          <a:solidFill>
            <a:srgbClr val="1F1B1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FF5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8412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spc="-10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per-lot override,</a:t>
            </a:r>
            <a:endParaRPr lang="en-US" sz="36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600" b="1" spc="-100" kern="0" dirty="0">
                <a:solidFill>
                  <a:srgbClr val="F7F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two columns in an export.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65760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39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MMFX builds the platform ahead of any revenue. Dupoin confirms sub-IB volume reporting and supplies a baseline. Three IBs, three branded desks, ninety days — and a measured answer either way.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2120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confirm the data feed, and MMFX starts Phase 1.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2026-08-28T05:22:31Z</dcterms:created>
  <dcterms:modified xsi:type="dcterms:W3CDTF">2026-08-28T05:22:31Z</dcterms:modified>
</cp:coreProperties>
</file>